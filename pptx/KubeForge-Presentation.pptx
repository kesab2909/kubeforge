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31C31"/>
          </a:solidFill>
          <a:ln>
            <a:solidFill>
              <a:srgbClr val="13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98280" y="502920"/>
            <a:ext cx="22860" cy="5669280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82328" y="667512"/>
            <a:ext cx="22860" cy="5394960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66376" y="832104"/>
            <a:ext cx="22860" cy="5120640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50424" y="502920"/>
            <a:ext cx="22860" cy="5669280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4472" y="667512"/>
            <a:ext cx="22860" cy="5394960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18519" y="832104"/>
            <a:ext cx="22860" cy="5120640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02567" y="502920"/>
            <a:ext cx="22860" cy="5669280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713232"/>
            <a:ext cx="1508760" cy="320040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749808"/>
            <a:ext cx="139903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1DCEB"/>
                </a:solidFill>
                <a:latin typeface="Aptos"/>
              </a:rPr>
              <a:t>DEVOPS •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08760"/>
            <a:ext cx="78638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1F6FF"/>
                </a:solidFill>
                <a:latin typeface="Aptos"/>
              </a:rPr>
              <a:t>KubeForge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749807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41DCEB"/>
                </a:solidFill>
                <a:latin typeface="Aptos"/>
              </a:rPr>
              <a:t>From commit to observable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71323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5B4CD"/>
                </a:solidFill>
                <a:latin typeface="Aptos"/>
              </a:rPr>
              <a:t>An end-to-end DevOps &amp; platform engineering demonstration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72000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" y="4773168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GIT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39696" y="4901184"/>
            <a:ext cx="173736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350008" y="4572000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4872" y="4773168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AFF"/>
                </a:solidFill>
                <a:latin typeface="Aptos"/>
              </a:rPr>
              <a:t>CI / SECURITY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12463" y="4901184"/>
            <a:ext cx="173737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22776" y="4572000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FF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773168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A64D"/>
                </a:solidFill>
                <a:latin typeface="Aptos"/>
              </a:rPr>
              <a:t>IMAGE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85232" y="4901184"/>
            <a:ext cx="173736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95544" y="4572000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0407" y="4773168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7DCAA"/>
                </a:solidFill>
                <a:latin typeface="Aptos"/>
              </a:rPr>
              <a:t>RUNTIME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0" y="4901184"/>
            <a:ext cx="173736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68312" y="4572000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23175" y="4773168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OBSERVE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978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5B4CD"/>
                </a:solidFill>
                <a:latin typeface="Aptos"/>
              </a:rPr>
              <a:t>PROJECT DEMONSTRATION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7132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Name: ____________________    Course: 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41DCE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What KubeForge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A practical integration of delivery automation, infrastructure as code, runtime orchestration, and observability.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493008" cy="15087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0292" cy="1508760"/>
          </a:xfrm>
          <a:prstGeom prst="rect">
            <a:avLst/>
          </a:prstGeom>
          <a:solidFill>
            <a:srgbClr val="41DCEB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31272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6FF"/>
                </a:solidFill>
                <a:latin typeface="Aptos"/>
              </a:rPr>
              <a:t>Automate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60904"/>
            <a:ext cx="3108960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Validate application code and deployment artifacts on repository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493008" cy="15087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57400"/>
            <a:ext cx="50292" cy="1508760"/>
          </a:xfrm>
          <a:prstGeom prst="rect">
            <a:avLst/>
          </a:prstGeom>
          <a:solidFill>
            <a:srgbClr val="997AFF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21992"/>
            <a:ext cx="31272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6FF"/>
                </a:solidFill>
                <a:latin typeface="Aptos"/>
              </a:rPr>
              <a:t>Shift security 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60904"/>
            <a:ext cx="3108960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Run secret detection, SAST, dependency checks, and container scanning.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57400"/>
            <a:ext cx="3493008" cy="15087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57400"/>
            <a:ext cx="50292" cy="1508760"/>
          </a:xfrm>
          <a:prstGeom prst="rect">
            <a:avLst/>
          </a:prstGeom>
          <a:solidFill>
            <a:srgbClr val="37DCAA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221992"/>
            <a:ext cx="31272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6FF"/>
                </a:solidFill>
                <a:latin typeface="Aptos"/>
              </a:rPr>
              <a:t>Operate visibly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60904"/>
            <a:ext cx="3108960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Use Kubernetes/Helm, Argo CD, Prometheus, and Grafana in the local demo environment.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41648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DESIGN PRINCIPLES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Repeatable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34840"/>
            <a:ext cx="8869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5B4CD"/>
                </a:solidFill>
                <a:latin typeface="Aptos"/>
              </a:rPr>
              <a:t>Infrastructure and deployment configuration are version-controlled.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65192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Verifiable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965192"/>
            <a:ext cx="8869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5B4CD"/>
                </a:solidFill>
                <a:latin typeface="Aptos"/>
              </a:rPr>
              <a:t>Pipeline status and application health endpoints provide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9554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Observable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495544"/>
            <a:ext cx="8869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5B4CD"/>
                </a:solidFill>
                <a:latin typeface="Aptos"/>
              </a:rPr>
              <a:t>Dashboards expose metrics available from the configured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Two deployment paths, one DevOps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Important boundary: the public AWS API and the local Kubernetes/GitOps environment are separate deployments.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783080" cy="10058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163677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1563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1F6FF"/>
                </a:solidFill>
                <a:latin typeface="Aptos"/>
              </a:rPr>
              <a:t>GitHub repository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8" y="2834640"/>
            <a:ext cx="347472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331720"/>
            <a:ext cx="1783080" cy="10058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487168"/>
            <a:ext cx="163677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AFF"/>
                </a:solidFill>
                <a:latin typeface="Aptos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788920"/>
            <a:ext cx="1563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1F6FF"/>
                </a:solidFill>
                <a:latin typeface="Aptos"/>
              </a:rPr>
              <a:t>Tests + security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73168" y="2834640"/>
            <a:ext cx="347472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2331720"/>
            <a:ext cx="1783080" cy="10058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FF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2487168"/>
            <a:ext cx="163677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A64D"/>
                </a:solidFill>
                <a:latin typeface="Aptos"/>
              </a:rPr>
              <a:t>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788920"/>
            <a:ext cx="1563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1F6FF"/>
                </a:solidFill>
                <a:latin typeface="Aptos"/>
              </a:rPr>
              <a:t>Docker image / GHCR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13448" y="2834640"/>
            <a:ext cx="347472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2331720"/>
            <a:ext cx="1783080" cy="10058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2487168"/>
            <a:ext cx="163677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7DCAA"/>
                </a:solidFill>
                <a:latin typeface="Aptos"/>
              </a:rPr>
              <a:t>ORCHESTRATE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788920"/>
            <a:ext cx="1563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1F6FF"/>
                </a:solidFill>
                <a:latin typeface="Aptos"/>
              </a:rPr>
              <a:t>Kubernetes + Helm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53728" y="2834640"/>
            <a:ext cx="347472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92640" y="2331720"/>
            <a:ext cx="1783080" cy="10058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5792" y="2487168"/>
            <a:ext cx="163677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7" y="2788920"/>
            <a:ext cx="1563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1F6FF"/>
                </a:solidFill>
                <a:latin typeface="Aptos"/>
              </a:rPr>
              <a:t>Prometheus +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86200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97AFF"/>
                </a:solidFill>
                <a:latin typeface="Aptos"/>
              </a:rPr>
              <a:t>GITOPS CONTROL LOOP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60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251960"/>
            <a:ext cx="50292" cy="1234440"/>
          </a:xfrm>
          <a:prstGeom prst="rect">
            <a:avLst/>
          </a:prstGeom>
          <a:solidFill>
            <a:srgbClr val="997AFF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416552"/>
            <a:ext cx="47548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Argo 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855464"/>
            <a:ext cx="4736592" cy="521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Watches the repository's declared application configuration and reconciles the local Kubernetes deployment.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86200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A64D"/>
                </a:solidFill>
                <a:latin typeface="Aptos"/>
              </a:rPr>
              <a:t>AWS DEMONSTRATION PATH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4983480" cy="12344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4251960"/>
            <a:ext cx="50292" cy="1234440"/>
          </a:xfrm>
          <a:prstGeom prst="rect">
            <a:avLst/>
          </a:prstGeom>
          <a:solidFill>
            <a:srgbClr val="FFA64D"/>
          </a:solidFill>
          <a:ln>
            <a:solidFill>
              <a:srgbClr val="FF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4416552"/>
            <a:ext cx="4617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Terraform → EC2 → Docker →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4855464"/>
            <a:ext cx="4599432" cy="521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The fresh Terraform module provisions AWS networking and an EC2 instance that runs the API container on port 80.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8064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5B4CD"/>
                </a:solidFill>
                <a:latin typeface="Aptos"/>
              </a:rPr>
              <a:t>The AWS EC2 deployment is not the same cluster as the local Kubernetes / Argo CD demonstration.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03 /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CI/CD pipeline and DevSecOps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Verified GitHub Actions run #22: all seven jobs passed in 1m 27s (as shown in the captured run).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074920" cy="5943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2276856"/>
            <a:ext cx="338328" cy="338328"/>
          </a:xfrm>
          <a:prstGeom prst="ellipse">
            <a:avLst/>
          </a:prstGeom>
          <a:solidFill>
            <a:srgbClr val="41DCEB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02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304288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Python application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5074920" cy="5943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3081528"/>
            <a:ext cx="338328" cy="338328"/>
          </a:xfrm>
          <a:prstGeom prst="ellipse">
            <a:avLst/>
          </a:prstGeom>
          <a:solidFill>
            <a:srgbClr val="37DCAA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45536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02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108960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Helm chart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58184"/>
            <a:ext cx="5074920" cy="5943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3886200"/>
            <a:ext cx="338328" cy="338328"/>
          </a:xfrm>
          <a:prstGeom prst="ellipse">
            <a:avLst/>
          </a:prstGeom>
          <a:solidFill>
            <a:srgbClr val="997AFF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50208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02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913632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Secret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74920" cy="5943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" y="4690872"/>
            <a:ext cx="338328" cy="338328"/>
          </a:xfrm>
          <a:prstGeom prst="ellipse">
            <a:avLst/>
          </a:prstGeom>
          <a:solidFill>
            <a:srgbClr val="997AFF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754880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02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4718304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Static application security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148840"/>
            <a:ext cx="5074920" cy="5943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2276856"/>
            <a:ext cx="338328" cy="338328"/>
          </a:xfrm>
          <a:prstGeom prst="ellipse">
            <a:avLst/>
          </a:prstGeom>
          <a:solidFill>
            <a:srgbClr val="FFA64D"/>
          </a:solidFill>
          <a:ln>
            <a:solidFill>
              <a:srgbClr val="FF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340864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020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04288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Terraform format &amp;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953512"/>
            <a:ext cx="5074920" cy="5943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3081528"/>
            <a:ext cx="338328" cy="338328"/>
          </a:xfrm>
          <a:prstGeom prst="ellipse">
            <a:avLst/>
          </a:prstGeom>
          <a:solidFill>
            <a:srgbClr val="FFA64D"/>
          </a:solidFill>
          <a:ln>
            <a:solidFill>
              <a:srgbClr val="FF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145536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020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108960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Python dependency scanning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58184"/>
            <a:ext cx="5074920" cy="5943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3886200"/>
            <a:ext cx="338328" cy="338328"/>
          </a:xfrm>
          <a:prstGeom prst="ellipse">
            <a:avLst/>
          </a:prstGeom>
          <a:solidFill>
            <a:srgbClr val="41DCEB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950208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020"/>
                </a:solidFill>
                <a:latin typeface="Apto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913632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Build, scan &amp; publish container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572000"/>
            <a:ext cx="5074920" cy="109728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572000"/>
            <a:ext cx="50292" cy="1097280"/>
          </a:xfrm>
          <a:prstGeom prst="rect">
            <a:avLst/>
          </a:prstGeom>
          <a:solidFill>
            <a:srgbClr val="37DCAA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4736592"/>
            <a:ext cx="470915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Delivery outcome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175504"/>
            <a:ext cx="469087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The workflow builds and scans the container image before publishing it to GitHub Container Registry.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5216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5B4CD"/>
                </a:solidFill>
                <a:latin typeface="Aptos"/>
              </a:rPr>
              <a:t>Security checks are automated gates; a green run is evidence for this commit, not a guarantee of zero vulnerabilities.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04 /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Terraform + AWS: reproducible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Fresh deployment verified in ap-southeast-2 (Sydney); avoid presenting it as a production-hardened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1920240" cy="96012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514600"/>
            <a:ext cx="17739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VPC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1635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10.20.0.0/16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42615" y="2807208"/>
            <a:ext cx="256033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80944" y="2331720"/>
            <a:ext cx="1920240" cy="96012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2514600"/>
            <a:ext cx="17739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Public subnet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81635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10.20.1.0/24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10327" y="2807208"/>
            <a:ext cx="256033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48656" y="2331720"/>
            <a:ext cx="1920240" cy="96012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FF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2514600"/>
            <a:ext cx="17739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Internet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81635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Outbound route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78040" y="2807208"/>
            <a:ext cx="256032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16367" y="2331720"/>
            <a:ext cx="1920240" cy="96012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2514600"/>
            <a:ext cx="17739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Security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81635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HTTP :80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45751" y="2807208"/>
            <a:ext cx="256033" cy="0"/>
          </a:xfrm>
          <a:prstGeom prst="line">
            <a:avLst/>
          </a:prstGeom>
          <a:ln w="1905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84080" y="2331720"/>
            <a:ext cx="1920240" cy="96012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2514600"/>
            <a:ext cx="17739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EC2 t3.micro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281635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Docker +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94760"/>
            <a:ext cx="50292" cy="1325880"/>
          </a:xfrm>
          <a:prstGeom prst="rect">
            <a:avLst/>
          </a:prstGeom>
          <a:solidFill>
            <a:srgbClr val="41DCEB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9593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Provisioning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398264"/>
            <a:ext cx="3044952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terraform/fresh/main.tf creates the fresh network and EC2 resources.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794760"/>
            <a:ext cx="50292" cy="1325880"/>
          </a:xfrm>
          <a:prstGeom prst="rect">
            <a:avLst/>
          </a:prstGeom>
          <a:solidFill>
            <a:srgbClr val="997AFF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9593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Bootstrap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398264"/>
            <a:ext cx="3044952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EC2 user data installs Docker, pulls the image from GHCR, and starts the API.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794760"/>
            <a:ext cx="50292" cy="1325880"/>
          </a:xfrm>
          <a:prstGeom prst="rect">
            <a:avLst/>
          </a:prstGeom>
          <a:solidFill>
            <a:srgbClr val="37DCAA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3959352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4398264"/>
            <a:ext cx="3044952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Root endpoint returns application metadata; /health returned healthy during validation.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A64D"/>
                </a:solidFill>
                <a:latin typeface="Aptos"/>
              </a:rPr>
              <a:t>Operational note: HTTP only; no TLS in this demo. Review AWS costs and clean up resources when no longer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05 /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Kubernetes + Helm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Local Kubernetes environment: inspect live resources during the demo and use screenshots if the cluster is unavailable.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50292" cy="1417320"/>
          </a:xfrm>
          <a:prstGeom prst="rect">
            <a:avLst/>
          </a:prstGeom>
          <a:solidFill>
            <a:srgbClr val="41DCEB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6FF"/>
                </a:solidFill>
                <a:latin typeface="Aptos"/>
              </a:rPr>
              <a:t>Workload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309067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Deployments and replicas provide declarative workload management and recovery.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50292" cy="1417320"/>
          </a:xfrm>
          <a:prstGeom prst="rect">
            <a:avLst/>
          </a:prstGeom>
          <a:solidFill>
            <a:srgbClr val="37DCAA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6FF"/>
                </a:solidFill>
                <a:latin typeface="Aptos"/>
              </a:rPr>
              <a:t>Reliability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52344"/>
            <a:ext cx="309067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Readiness/liveness probes, resource settings, and HPA are configured in the project.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50292" cy="1417320"/>
          </a:xfrm>
          <a:prstGeom prst="rect">
            <a:avLst/>
          </a:prstGeom>
          <a:solidFill>
            <a:srgbClr val="997AFF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6FF"/>
                </a:solidFill>
                <a:latin typeface="Aptos"/>
              </a:rPr>
              <a:t>Helm packaging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52344"/>
            <a:ext cx="309067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The `helm/kubeforge` chart packages Kubernetes resources and configuration.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CONTAINER SECURITY 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572000"/>
            <a:ext cx="1965960" cy="84124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736592"/>
            <a:ext cx="1819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Non-root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047488"/>
            <a:ext cx="1819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UID 10001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572000"/>
            <a:ext cx="1965960" cy="84124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0672" y="4736592"/>
            <a:ext cx="1819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5047488"/>
            <a:ext cx="1819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Drop 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85232" y="4572000"/>
            <a:ext cx="1965960" cy="84124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8384" y="4736592"/>
            <a:ext cx="1819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Filesystem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5047488"/>
            <a:ext cx="1819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Read-only root FS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572000"/>
            <a:ext cx="1965960" cy="84124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4736592"/>
            <a:ext cx="1819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Privilege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5047488"/>
            <a:ext cx="1819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Escalation disabled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0656" y="4572000"/>
            <a:ext cx="1965960" cy="841248"/>
          </a:xfrm>
          <a:prstGeom prst="roundRect">
            <a:avLst>
              <a:gd name="adj" fmla="val 12000"/>
            </a:avLst>
          </a:prstGeom>
          <a:solidFill>
            <a:srgbClr val="18253E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8" y="4736592"/>
            <a:ext cx="1819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Seccomp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5047488"/>
            <a:ext cx="1819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RuntimeDefault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5216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B4CD"/>
                </a:solidFill>
                <a:latin typeface="Aptos"/>
              </a:rPr>
              <a:t>Live verification commands: kubectl get nodes • kubectl get pods -A • kubectl get deployments,services -n kubeforge-helm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06 / 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Argo CD keeps the declared state in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The captured Argo CD dashboard showed kubeforge-gitops as Healthy and Synced.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43200"/>
            <a:ext cx="25237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Git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27248"/>
            <a:ext cx="2523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5B4CD"/>
                </a:solidFill>
                <a:latin typeface="Aptos"/>
              </a:rPr>
              <a:t>gitops/application.yaml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3090672"/>
            <a:ext cx="886968" cy="0"/>
          </a:xfrm>
          <a:prstGeom prst="line">
            <a:avLst/>
          </a:prstGeom>
          <a:ln w="2540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251460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743200"/>
            <a:ext cx="25237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Argo 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127248"/>
            <a:ext cx="2523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5B4CD"/>
                </a:solidFill>
                <a:latin typeface="Aptos"/>
              </a:rPr>
              <a:t>Observe + compare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79" y="3090672"/>
            <a:ext cx="886969" cy="0"/>
          </a:xfrm>
          <a:prstGeom prst="line">
            <a:avLst/>
          </a:prstGeom>
          <a:ln w="25400">
            <a:solidFill>
              <a:srgbClr val="304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03920" y="251460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743200"/>
            <a:ext cx="25237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Kubernetes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3127248"/>
            <a:ext cx="2523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5B4CD"/>
                </a:solidFill>
                <a:latin typeface="Aptos"/>
              </a:rPr>
              <a:t>Reconcile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43400"/>
            <a:ext cx="4754880" cy="10515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343400"/>
            <a:ext cx="50292" cy="1051560"/>
          </a:xfrm>
          <a:prstGeom prst="rect">
            <a:avLst/>
          </a:prstGeom>
          <a:solidFill>
            <a:srgbClr val="37DCAA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507992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Observed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946904"/>
            <a:ext cx="4370832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5B4CD"/>
                </a:solidFill>
                <a:latin typeface="Aptos"/>
              </a:rPr>
              <a:t>Application: kubeforge-gitops • Namespace: kubeforge-gitops • Path: helm/kubeforge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343400"/>
            <a:ext cx="4754880" cy="105156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343400"/>
            <a:ext cx="50292" cy="1051560"/>
          </a:xfrm>
          <a:prstGeom prst="rect">
            <a:avLst/>
          </a:prstGeom>
          <a:solidFill>
            <a:srgbClr val="997AFF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507992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946904"/>
            <a:ext cx="4370832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5B4CD"/>
                </a:solidFill>
                <a:latin typeface="Aptos"/>
              </a:rPr>
              <a:t>Desired state is versioned in Git; status and drift are visible in the Argo CD interface.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0644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5B4CD"/>
                </a:solidFill>
                <a:latin typeface="Aptos"/>
              </a:rPr>
              <a:t>The AWS EC2 API is a separate deployment path; Argo CD is demonstrating the local Kubernetes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07 /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Prometheus +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Dashboard: KubeForge - Platform Overview. Show actual panels during the live demo; don't imply metrics are present if a panel is empty.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REQUEST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3063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Requests over time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60120" y="2860329"/>
            <a:ext cx="424542" cy="185373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84662" y="2860329"/>
            <a:ext cx="424543" cy="36370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09205" y="2896699"/>
            <a:ext cx="424543" cy="114715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33748" y="2849683"/>
            <a:ext cx="424543" cy="161731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58291" y="2849683"/>
            <a:ext cx="424543" cy="71645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82834" y="2921328"/>
            <a:ext cx="424543" cy="57096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507377" y="2844384"/>
            <a:ext cx="424543" cy="134040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219456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350008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97AFF"/>
                </a:solidFill>
                <a:latin typeface="Aptos"/>
              </a:rPr>
              <a:t>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33472"/>
            <a:ext cx="3063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Latency percentiles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617720" y="2843793"/>
            <a:ext cx="424542" cy="118106"/>
          </a:xfrm>
          <a:prstGeom prst="line">
            <a:avLst/>
          </a:prstGeom>
          <a:ln w="19050">
            <a:solidFill>
              <a:srgbClr val="997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2262" y="2843793"/>
            <a:ext cx="424543" cy="121706"/>
          </a:xfrm>
          <a:prstGeom prst="line">
            <a:avLst/>
          </a:prstGeom>
          <a:ln w="19050">
            <a:solidFill>
              <a:srgbClr val="997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466805" y="2932462"/>
            <a:ext cx="424543" cy="33037"/>
          </a:xfrm>
          <a:prstGeom prst="line">
            <a:avLst/>
          </a:prstGeom>
          <a:ln w="19050">
            <a:solidFill>
              <a:srgbClr val="997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891348" y="2846859"/>
            <a:ext cx="424543" cy="85603"/>
          </a:xfrm>
          <a:prstGeom prst="line">
            <a:avLst/>
          </a:prstGeom>
          <a:ln w="19050">
            <a:solidFill>
              <a:srgbClr val="997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315891" y="2846859"/>
            <a:ext cx="424543" cy="150859"/>
          </a:xfrm>
          <a:prstGeom prst="line">
            <a:avLst/>
          </a:prstGeom>
          <a:ln w="19050">
            <a:solidFill>
              <a:srgbClr val="997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740434" y="2906299"/>
            <a:ext cx="424543" cy="91419"/>
          </a:xfrm>
          <a:prstGeom prst="line">
            <a:avLst/>
          </a:prstGeom>
          <a:ln w="19050">
            <a:solidFill>
              <a:srgbClr val="997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164977" y="2855343"/>
            <a:ext cx="424543" cy="50956"/>
          </a:xfrm>
          <a:prstGeom prst="line">
            <a:avLst/>
          </a:prstGeom>
          <a:ln w="19050">
            <a:solidFill>
              <a:srgbClr val="997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46720" y="219456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350008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A64D"/>
                </a:solidFill>
                <a:latin typeface="Aptos"/>
              </a:rPr>
              <a:t>ERROR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633472"/>
            <a:ext cx="3063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5xx responses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275320" y="2861902"/>
            <a:ext cx="424542" cy="32194"/>
          </a:xfrm>
          <a:prstGeom prst="line">
            <a:avLst/>
          </a:prstGeom>
          <a:ln w="19050">
            <a:solidFill>
              <a:srgbClr val="FFA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99862" y="2861902"/>
            <a:ext cx="424543" cy="187829"/>
          </a:xfrm>
          <a:prstGeom prst="line">
            <a:avLst/>
          </a:prstGeom>
          <a:ln w="19050">
            <a:solidFill>
              <a:srgbClr val="FFA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124405" y="2874157"/>
            <a:ext cx="424543" cy="175574"/>
          </a:xfrm>
          <a:prstGeom prst="line">
            <a:avLst/>
          </a:prstGeom>
          <a:ln w="19050">
            <a:solidFill>
              <a:srgbClr val="FFA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548948" y="2874157"/>
            <a:ext cx="424543" cy="4040"/>
          </a:xfrm>
          <a:prstGeom prst="line">
            <a:avLst/>
          </a:prstGeom>
          <a:ln w="19050">
            <a:solidFill>
              <a:srgbClr val="FFA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973491" y="2878197"/>
            <a:ext cx="424543" cy="163829"/>
          </a:xfrm>
          <a:prstGeom prst="line">
            <a:avLst/>
          </a:prstGeom>
          <a:ln w="19050">
            <a:solidFill>
              <a:srgbClr val="FFA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398034" y="2858952"/>
            <a:ext cx="424543" cy="183074"/>
          </a:xfrm>
          <a:prstGeom prst="line">
            <a:avLst/>
          </a:prstGeom>
          <a:ln w="19050">
            <a:solidFill>
              <a:srgbClr val="FFA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22577" y="2858952"/>
            <a:ext cx="424543" cy="40173"/>
          </a:xfrm>
          <a:prstGeom prst="line">
            <a:avLst/>
          </a:prstGeom>
          <a:ln w="19050">
            <a:solidFill>
              <a:srgbClr val="FFA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31520" y="3794760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950208"/>
            <a:ext cx="4892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DCAA"/>
                </a:solidFill>
                <a:latin typeface="Aptos"/>
              </a:rPr>
              <a:t>POD 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33672"/>
            <a:ext cx="4892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Ready replicas and restarts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60120" y="4460529"/>
            <a:ext cx="685800" cy="185373"/>
          </a:xfrm>
          <a:prstGeom prst="line">
            <a:avLst/>
          </a:prstGeom>
          <a:ln w="19050">
            <a:solidFill>
              <a:srgbClr val="37D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645920" y="4460529"/>
            <a:ext cx="685800" cy="36370"/>
          </a:xfrm>
          <a:prstGeom prst="line">
            <a:avLst/>
          </a:prstGeom>
          <a:ln w="19050">
            <a:solidFill>
              <a:srgbClr val="37D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31720" y="4496899"/>
            <a:ext cx="685800" cy="114715"/>
          </a:xfrm>
          <a:prstGeom prst="line">
            <a:avLst/>
          </a:prstGeom>
          <a:ln w="19050">
            <a:solidFill>
              <a:srgbClr val="37D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17520" y="4449883"/>
            <a:ext cx="685800" cy="161731"/>
          </a:xfrm>
          <a:prstGeom prst="line">
            <a:avLst/>
          </a:prstGeom>
          <a:ln w="19050">
            <a:solidFill>
              <a:srgbClr val="37D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03320" y="4449883"/>
            <a:ext cx="685800" cy="71645"/>
          </a:xfrm>
          <a:prstGeom prst="line">
            <a:avLst/>
          </a:prstGeom>
          <a:ln w="19050">
            <a:solidFill>
              <a:srgbClr val="37D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89120" y="4521528"/>
            <a:ext cx="685800" cy="57096"/>
          </a:xfrm>
          <a:prstGeom prst="line">
            <a:avLst/>
          </a:prstGeom>
          <a:ln w="19050">
            <a:solidFill>
              <a:srgbClr val="37D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074920" y="4444584"/>
            <a:ext cx="685800" cy="134040"/>
          </a:xfrm>
          <a:prstGeom prst="line">
            <a:avLst/>
          </a:prstGeom>
          <a:ln w="19050">
            <a:solidFill>
              <a:srgbClr val="37D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217920" y="3794760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950208"/>
            <a:ext cx="4892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TARGET 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233672"/>
            <a:ext cx="4892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F6FF"/>
                </a:solidFill>
                <a:latin typeface="Aptos"/>
              </a:rPr>
              <a:t>Prometheus scrape targets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446520" y="4448768"/>
            <a:ext cx="685800" cy="76679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132320" y="4448768"/>
            <a:ext cx="685800" cy="157916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818120" y="4500257"/>
            <a:ext cx="685800" cy="106427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503920" y="4458646"/>
            <a:ext cx="685800" cy="41611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189720" y="4458646"/>
            <a:ext cx="685800" cy="182189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875520" y="4479152"/>
            <a:ext cx="685800" cy="161683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561320" y="4473651"/>
            <a:ext cx="685800" cy="5501"/>
          </a:xfrm>
          <a:prstGeom prst="line">
            <a:avLst/>
          </a:prstGeom>
          <a:ln w="19050">
            <a:solidFill>
              <a:srgbClr val="41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7240" y="5715000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5B4CD"/>
                </a:solidFill>
                <a:latin typeface="Aptos"/>
              </a:rPr>
              <a:t>Schematic panel layout for explanation only — use your actual Grafana dashboard in the recorded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08 /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Troubleshooting: symptom → cause → fix →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Documented incidents from the actual development and deployment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50292" cy="1828800"/>
          </a:xfrm>
          <a:prstGeom prst="rect">
            <a:avLst/>
          </a:prstGeom>
          <a:solidFill>
            <a:srgbClr val="997AFF"/>
          </a:solidFill>
          <a:ln>
            <a:solidFill>
              <a:srgbClr val="99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Issue 01 — Terraform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487375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Symptom: “Too many command line arguments.”
Resolution: invoke the absolute Terraform executable and use `-chdir` to select the module explicitly.
Verification: Terraform applied 7 resources, with 0 changed and 0 destroyed.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50292" cy="1828800"/>
          </a:xfrm>
          <a:prstGeom prst="rect">
            <a:avLst/>
          </a:prstGeom>
          <a:solidFill>
            <a:srgbClr val="FFA64D"/>
          </a:solidFill>
          <a:ln>
            <a:solidFill>
              <a:srgbClr val="FF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313432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Issue 02 — Initial API reachability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752344"/>
            <a:ext cx="4873752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Symptom: connection refused immediately after EC2 creation.
Cause: the instance was still initializing and status checks had not completed.
Resolution: wait for instance initialization, then retry.
Verification: root endpoint returned metadata; `/health` returned `healthy`.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1DCEB"/>
                </a:solidFill>
                <a:latin typeface="Aptos"/>
              </a:rPr>
              <a:t>Lesson: infrastructure creation is not the same as application readiness. Verify the service after startup.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5B4CD"/>
                </a:solidFill>
                <a:latin typeface="Aptos"/>
              </a:rPr>
              <a:t>No claim is made that every failure scenario was intentionally injected; this slide summarizes observed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CEB"/>
                </a:solidFill>
                <a:latin typeface="Aptos"/>
              </a:rPr>
              <a:t>09 /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Verified outcomes and next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4CD"/>
                </a:solidFill>
                <a:latin typeface="Aptos"/>
              </a:rPr>
              <a:t>A practical demonstration—not yet a production-hardened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6459"/>
          </a:xfrm>
          <a:prstGeom prst="rect">
            <a:avLst/>
          </a:prstGeom>
          <a:solidFill>
            <a:srgbClr val="30426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5B4CD"/>
                </a:solidFill>
                <a:latin typeface="Aptos"/>
              </a:rPr>
              <a:t>KUBEFORGE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74720" cy="14630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50292" cy="1463040"/>
          </a:xfrm>
          <a:prstGeom prst="rect">
            <a:avLst/>
          </a:prstGeom>
          <a:solidFill>
            <a:srgbClr val="37DCAA"/>
          </a:solidFill>
          <a:ln>
            <a:solidFill>
              <a:srgbClr val="3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309067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5B4CD"/>
                </a:solidFill>
                <a:latin typeface="Aptos"/>
              </a:rPr>
              <a:t>• Latest CI run #22: 7/7 jobs passed
• AWS root endpoint returned API metadata
• AWS `/health` returned `healthy`
• Argo CD showed Healthy + Synced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74720" cy="14630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50292" cy="1463040"/>
          </a:xfrm>
          <a:prstGeom prst="rect">
            <a:avLst/>
          </a:prstGeom>
          <a:solidFill>
            <a:srgbClr val="41DCEB"/>
          </a:solidFill>
          <a:ln>
            <a:solidFill>
              <a:srgbClr val="4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52344"/>
            <a:ext cx="309067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5B4CD"/>
                </a:solidFill>
                <a:latin typeface="Aptos"/>
              </a:rPr>
              <a:t>• Terraform AWS fresh module
• Docker image build and GHCR publish
• Kubernetes + Helm resources
• GitOps and monitoring setup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74720" cy="146304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>
            <a:solidFill>
              <a:srgbClr val="30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50292" cy="1463040"/>
          </a:xfrm>
          <a:prstGeom prst="rect">
            <a:avLst/>
          </a:prstGeom>
          <a:solidFill>
            <a:srgbClr val="FFA64D"/>
          </a:solidFill>
          <a:ln>
            <a:solidFill>
              <a:srgbClr val="FF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Next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52344"/>
            <a:ext cx="309067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5B4CD"/>
                </a:solidFill>
                <a:latin typeface="Aptos"/>
              </a:rPr>
              <a:t>• Add HTTPS/TLS
• Tighten network ingress
• Improve secrets lifecycle
• Expand metrics and runbooks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CEB"/>
                </a:solidFill>
                <a:latin typeface="Aptos"/>
              </a:rPr>
              <a:t>Key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104241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1F6FF"/>
                </a:solidFill>
                <a:latin typeface="Aptos"/>
              </a:rPr>
              <a:t>KubeForge connects delivery automation, infrastructure as code, deployment orchestration, and observability—with verification evidence at each stage.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1DCEB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